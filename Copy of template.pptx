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embeddedFontLst>
    <p:embeddedFont>
      <p:font typeface="Tahom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TCG: trusted Computing Group</a:t>
            </a:r>
            <a:endParaRPr/>
          </a:p>
        </p:txBody>
      </p:sp>
      <p:sp>
        <p:nvSpPr>
          <p:cNvPr id="101" name="Google Shape;101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2017 and onwards</a:t>
            </a:r>
            <a:br>
              <a:rPr lang="en-US"/>
            </a:br>
            <a:r>
              <a:rPr lang="en-US"/>
              <a:t>Awareness – brown bags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bg>
      <p:bgPr>
        <a:solidFill>
          <a:schemeClr val="lt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90250" y="701800"/>
            <a:ext cx="5797575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6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6"/>
          <p:cNvSpPr txBox="1"/>
          <p:nvPr>
            <p:ph type="title"/>
          </p:nvPr>
        </p:nvSpPr>
        <p:spPr>
          <a:xfrm>
            <a:off x="510450" y="2743200"/>
            <a:ext cx="8123175" cy="10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s" showMasterSp="0">
  <p:cSld name="Title Slide with images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ctrTitle"/>
          </p:nvPr>
        </p:nvSpPr>
        <p:spPr>
          <a:xfrm>
            <a:off x="347472" y="1291591"/>
            <a:ext cx="5486400" cy="1478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0" type="dt"/>
          </p:nvPr>
        </p:nvSpPr>
        <p:spPr>
          <a:xfrm>
            <a:off x="347472" y="335796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796E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ebay_logo_onl.png"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44768" y="1737362"/>
            <a:ext cx="2441448" cy="90791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/>
          <p:nvPr>
            <p:ph idx="2" type="pic"/>
          </p:nvPr>
        </p:nvSpPr>
        <p:spPr>
          <a:xfrm>
            <a:off x="347472" y="4160520"/>
            <a:ext cx="5486400" cy="2286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7"/>
          <p:cNvSpPr/>
          <p:nvPr>
            <p:ph idx="3" type="pic"/>
          </p:nvPr>
        </p:nvSpPr>
        <p:spPr>
          <a:xfrm>
            <a:off x="6151118" y="4160520"/>
            <a:ext cx="2651760" cy="2286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44263" y="2979318"/>
            <a:ext cx="5492976" cy="298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6"/>
          <p:cNvCxnSpPr/>
          <p:nvPr/>
        </p:nvCxnSpPr>
        <p:spPr>
          <a:xfrm flipH="1">
            <a:off x="7161113" y="1164925"/>
            <a:ext cx="11943" cy="4999035"/>
          </a:xfrm>
          <a:prstGeom prst="straightConnector1">
            <a:avLst/>
          </a:prstGeom>
          <a:noFill/>
          <a:ln cap="flat" cmpd="dbl" w="15875">
            <a:solidFill>
              <a:srgbClr val="5F497A">
                <a:alpha val="33725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4" name="Google Shape;104;p16"/>
          <p:cNvCxnSpPr/>
          <p:nvPr/>
        </p:nvCxnSpPr>
        <p:spPr>
          <a:xfrm flipH="1">
            <a:off x="4647501" y="1216041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5" name="Google Shape;105;p16"/>
          <p:cNvSpPr/>
          <p:nvPr/>
        </p:nvSpPr>
        <p:spPr>
          <a:xfrm>
            <a:off x="115440" y="1586276"/>
            <a:ext cx="1303020" cy="619760"/>
          </a:xfrm>
          <a:prstGeom prst="rect">
            <a:avLst/>
          </a:prstGeom>
          <a:solidFill>
            <a:srgbClr val="0F243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Crypto - Visibility</a:t>
            </a:r>
            <a:endParaRPr sz="800">
              <a:solidFill>
                <a:srgbClr val="B6DDE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MSERUUDxQVFBUUFBcUFhYWFBgVFRQQFBQVFBUWFBUXHCYeFxkjGRQVHy8gIycpLCwsFR4xNTAqNSYrLCkBCQoKDgwOGg8PGjAkHyUqNCwqLDUsLDQqLywsKS4sLywsLDQsLCovLCwsLCksLCovKSwsLCwsLCwsLSwsLCwsLP/AABEIAPoAygMBIgACEQEDEQH/xAAcAAABBAMBAAAAAAAAAAAAAAAHAAQFBgEDCAL/xABOEAACAQICBQcGCgcFBwUAAAABAgMAEQQhBQYHEjEiQVFhcYGREzJzobGyFCMzNEJSYnLB0SQ1Q1OCkqIWk7PS8BdUdIPCw+IVRGNko//EABkBAAMBAQEAAAAAAAAAAAAAAAADBAUCAf/EADYRAAEDAgIGCAUEAwEAAAAAAAEAAgMEESExBRITMkHwUXGBkaGxweEUI1Jh0RU0QmIiM0Mk/9oADAMBAAIRAxEAPwA4UqVKhCVKlSoQlSpUqEJUqVaJsYq8Tn0DM0IW+kajnx7t5i26zmfCtfwZm88k+zwoQnsmPQfSv1DP2VpbSf1UJ7TalHgRW9cMKEJocXKeFh3X9teSsh4ue7L2VIiEV63KEKLODJ4knvNL/wBOqV3aVqEKJOjq8/BGHAkd5qY3axuChCiN+VeDHvz9tel0pIPOUH1GpMwCtMmCBoQtUWl0PnXXt4eIp6rAi4Nx1VFT6PplZ4zdCR7D2ihCsdKo3B6ZDHdk5LdP0T+VSVCEqVKlQhKlSpUISpUqwzAC5yoQs1oxGMVOOZ6BxptNjy2UeQ+tz91YgwXOaELy87v9kdA495r3DgRTxIQK2AUIWpIAK2Bai9Na04bCD9IlVTzIOU57EGffwqh6X2xMTu4KG18g0ubHsjU/ieynx08km6EiSojj3iijUbpHWbCwfLTxoeguC38oz9VCpsHpnH+f5bcP1iII7fdyuO40+wGxqY5zzxp0hFLnxO6PbVHw0TP9jx2c+in+Jkf/AK2d/PqrLjNrWBTzPKy/djsPFyKh8RtoH7LDE9bygepVPtqRwmx/CL8o80h+8qDwUX9dS0GzfR6/+3Dfed29rV7rUjeBPPYvNWrdxA57VSJdsuJ+jBCO0u34itB2w4z93h/5X/z0S49TsEvDCwd8an2it39l8J/usH9yn5V7t6cf80bCoP8A0QxTbHi+eKA9zj/qp7h9tD/tMMp+7KR6ipq9S6l4FuOFh7owPZUditmGj34RFD0pI49RJHqr3bUpzZz3rzY1Qyfz3KPwO1/CPYSrLEekqHXxU39VWnReseGxHzeaNz9UNZu9Dyh4VRtI7GUzOGxDDoWVQw/mW1vA1TNNaj4zCcqSMsq5+UjO+o6yRyl7SBXQgppdx1jzzmuTPURb7bhH01omwoNBbV/aVi8OQHby8f1ZDdgPsycfG4orat634fGreFrOBdo2ydeu3OOsZVLNSyRYnEdKphqo5cBn0LTjcBavWjNKlCEkPJ4Anm6j1VNyxBhVe0lg7VKqlZKVRWgcfvKUbzk4dac3hw8KlaEJUqVeJZQoJPAf6yoQlNMFF2P+uqo12aU55LzD8T0mlypGu3DmHQPzp/DDahC8QYa1OQtYdwoJOQAuT0Acagv7e4D/AHqLxP5V01jnZC65c9rcynWn9ZYMGm/iHte+6oF3cjiFXn4jPgL8aoc+s+k9JEro+JoITl5S9iR1ynIdiAnrq/Y7QeHxTRSTIsvkwTHvZry903K8G80cakVQAWGQHADgBTmSMjF9W7vvl3JL43yG2tZv2z70O9E7H0vv42ZpWOZVLqpP2nPKb1VddF6vYfDC2HhROsLyj2ueUfGpGlXMk8km8V1HBHHuhKlSpUlOSpUqVCEqVKlQhKlSpUISrBFVTSe0vCQTPFJ5Xejbda0dxe18jfrqa0Dp6PFxCWDe3SxXlDdN1NjlTHRPa3WIwS2yscdUHFVzW3ZpDiQZMOFhm45C0ch+2o4H7Q770JHSfBz2O9DNE3YVPVzEEdxBo7/2rg8qYt43BsWtyb3tx42vle1uuoLabqqMRhzPGPjoFJy4vCM2U9JGbDsI56vpqhzCI5MioKmna8F8eYT7UXXJcdFZ7LNHbyijgRzOvUejmPdU5pCC60ANXNNthMTHMnBTyh9aI5Ovhn2gV0MsgdAVNwwBB6QRcHwpNZAIn3GRTqOfasscwqvDL5KZW5r2P3Tkfz7qtlVPSsdiamsLpZdxb8d0X7bColapKouWTyjZeaOHX1050lNZd0cWy7uf8u+sYOGwoQt0MNqa6d07FhITLO1lGQA8525lUc5NOcfjUhiaSVgqIpZieYD2nqoUYCOTTeOLzXXDQ57t8lQnkpf672zPQD0CqIYQ+7nYNGf4U80pZZrd45flEjAaROJwQl3bGWEsFBvbeU2F+c0Cv7L4y3zXEcP3L9HZXQkloojuKAI0NlGQAVcgLcBlQy/21Pb5qvD98f8AJVVI+Qa2ybcdamq2RnV2jrdiJmjlIijBFiI1BB4ghRxpzWnBz78aPa2+qtbjbeANvXQ0m2zOrEfBVyJHyx5iR9SpI4Xyk6oyVT5mRAaxRRpULP8AbS/+6r/fH/JWzD7ac/jMLZecrLc9wKgHxpvwU30+IS/jYenwKJ9D/aVrdicHLCuGcKHRma6K2YYAcauGhNORYuISwNvKcjfJlYcVYcxFDbbP8vh/RP74opGAzBrwvKp5EJcwqa2aa2YnGSTLiXDBEQrZFWxZmB4ceAq/0A9TtcDgHkZYhJ5RVWxfctuknoN+NFzUvWg4+BpWjEe7IY7Bt69lVr3sPreqmVlOWuLwLNXFHUBzQwm7lYKVVrWnXzD4LkteSW1xGlrgHgXY5KPX1VSJts2IJ5EEQHQzOx8QR7KRHSyyC4GCdJVRRmxOKLlKqBq7taimYR4pPIMTYOG3o7n6xIBTtzHWKv16VJE+M2cE2OVkgu0rn/Xn9Y4n0p91aJ2yf9Xr6WT3qGOvP6xxPpT7oon7J/1evpZPerWq/wBs3s8llUv7l3b5pz/Yw+VLBxukFTx3vIkbpjA829st/jYnLOrOy5Z16rBrIc9zs1rNY1uS5x05gPIYmaIcI5XUfdDHd9VqNez3GGTR0BJuVQxn/lsUHqAoQa6yhtIYkj98w71sp9YNFXZahGjY787yEdnlCPwrWrcYGk54eSyaLCdwGWPmt+mRmaihMaldM+cahqxlsq2Yg70v3QB38T7akIVyqNwxu7HpY+2pGSUIhZsgoLHsAufZQhC3a5rIWdcJGeSlnltzuc0XuHK7WHRV41J0AMJg40I5bDyknpGAuO4WXuoR6vKcdpSNpM/KTmVvureS3ZZQtHoVo1fymNhHWVnUvzXulPUE30j8jJ6N/dNc0c3d+FdL6R+Rk9G/umuaObu/Cn6Nyd2JOks2rpXRPyEXok9wVzjivlH++3vGujtE/IReiT3BXOOK+Uf77e8aNH7z+elGkN1nPQidoDZbhZ8NDK7zBpIkdgGUAFlBNrrwqs7QNTEwDRGJ2ZJQ2T23lZN2+YAuDvDm5qLGpvzDC+gj9wVSttXDC9s3/apcE8hqNUnC5Xc8EYp9YDGwTLY1jGGImivyWiD2+0jqt/Bz4CvW2f5fD+if3xTXY789k/4dv8SKnW2f5fD+if3xTiP/AGdnokg3o+31UPs+1TixzyrOzqI1VhuEDNiwN7g9FEf4FFofATtCWYAmQb5BJlYKijIDK4X11Uti/wArifRx+89WHa45GAsOeaMHs5R9oFKqHOfUbMnC4wTqdrWU+0AxscUJMPDLi8QFBLyzSWued2OZJ6OfsFFTCbH8KI7SvK72zYMEF/srY5dt6E+jtISQSLLC266X3WsDYkEHJgRwJ5qnf9o2kf8AeD/dxf5KtnjmdYRmwUUEkLbmQXKZ63atNgcQYid5SA6Na28hJGY6QQQeyifsr060+EMchu2HIS54mIi6X7LFf4RQn0xp2fFMrYlzIVBVTuqtgTcjkgXzq67GXImxA5jGh7wzD8aVVMJp/wDPMJlK8Cf/AAyKq2vP6xxPpT7oon7J/wBXr6WT3qGGvX6xxPpf+laJ+yf9Xr6WT3q4q/2zezyTKX9y7t81cqY6b0quGgkmfhGpNuluCqOskgd9PSbcaDO0nXMYpxBAbwxtcsOEsgyuPsjO3SST0Vm08BmfbhxWjUTCJl+PBUyaUuxZs2Ylj1sxufWa6F1X0Z8HwcMR4pGu9988p/6iaEezfVo4rFB2HxUBDv0M4zRPEXPUvXRwNW6QlBIjHBR6PjIBkPFVnTPE1DVM6Z4moaspaitWj61a5TlNH4lhx8g4/mXd/Gt2juFatcoN/AYlRx8g5/lXe/CmR74v0riTcPUhbsoQf+ojqikI7eSPYaNlAbZ1jhFpGEng5aP+dSF/q3aPIqzSA+aOpRaPPyrfdNtJi8Mtv3b+6a5p5u78K6eYUFdatmmIhkdsKhmhYkruZugP0WXibcLi/dTNHytaS1xtdcV8TnAOaL2Rg0T8hF6JPcFc44r5R/vt7xro/RikQxAixEaAg8QQouDQJxGpuNLsRhZrFmPmcxY11QOaHPuecVzXNc5rLDnBGfU35hhfQR+4KpW2rhhe2b/tVedVsO0eCw6SKVZYUVlORDBQCDVT2s6GnxAw/wAHieTdMu9uC9r+TtftsfCpqdwFTc9J9VRUNJp7DoHoq7sd+eyf8O3+JFTvbQp8thzzeTcd4ZfzFbdlur+JgxbtPDJGpgZQWWwLb8Zt22B8KuWuuqa46AJcLIh3o2PAMRYq32Tl4A81UyTNZVB18FPHE51KW2xQ+2S6WihnmE0ix78a7pchVJViSLnK9j6jV314hTGaOm+DsspSzjcYNyoyHIy592+XXQtxWz/HxsVOHdutCrqewg+2iVst0TLBhZExEbRsZ2YBhYlTHGL9lwfCvaoMDtu11zhgvKYvLdi5thjihLq7pb4Niop7XEb3IHEoQVa3Xuk0e9Haew06B4pY2Ui/nAEdTKc1PUaHut+yt99pcAAVYkmEkKVJ4+TJyI6ja3NeqRNqvi1Nmw0wPomPrAtTJGRVQDg6xS43y0pLS24Rk01tBweGdUZxIWYBvJ2fya87ORl3DPqqxYeZXUPGQysAVYG4KngQRQJ0Ts+xs5AELRLzvLyFA6bHlHuFGLVTVxcFhxCrs+ZZieG8eO4v0V6u+oamGKNoDXXKtp5ZZHEubYIMa9rbSOJv+8v4qpom7KP1evpZPeppr/s8bFv5fClRLYB0Y2DhclIbma2WeRAHC2cvs90TLhsGI8Qm44kc2uDkWuDdSRT55mPpwAccMEmCF7KhxIwxxQ/132hy4gvBCDFCCVbPlyWNjvEeauXAcec81VvV/V+XGTCKAdbMfNjT6zH8OJq26M2VzzzO+JPkIzIxtk0jKWJFhwW45z4UT9D6DhwsYjw6BF4nnZm+szcWNNfUxwM1Is0plNJO/WlyXjV/QMeEgWGEZDMseLueLN1n1AAVIms1g1jklxuVrgBosFWdM8TUNUzpniahq8Xqs2hJN6JD9hfdFSssIdSrcGBU9hFjUDq1J8TEeZkUfxAVYloQubcbhXw87IcnhkK36GRsmHgDR71U1hXGYZJVtvebIv1ZQOUOznHURVE2s6rHeGMiGRAWYDmIySTstZT2LVO1W1plwM2/HylbKSMnJ1HsYcx/CtuRgq4Q5uY5IWJG80spa7I83XQlKonV/WeDGR78DXI85Dk6H7S/jwNS1YrmlpsVtNcHC4SrFqzSrxepUrUqVCErUqVKhCVqVKlQhKlSpUISpVpxOLSNS0rKijizMFHiaqGmdq+EiuId7EN9jkpfrdvwBpjInyboulvlZHvGyulRyawQNiPg6SBpd0sVXPdC2vvEZA5jLjQb09tExeKuu/5GM/Qiutx9p/Ob1Dqp7sk/WH/Jk9qVaaEsjL3nhkohXB8gYwZnNGmlSpVnLRSrBrNYNCFWdM+cahqmdNHM1WTpmEftFoQrNqmN7Bp90dxHA1P4TEbwz84cR+PZUBqN80XsqQkBVrrkR/qxoQpSaFWUq4DKwIIIuCpyII5xQa142dvhS0uGBeDiQM2h6m5yn2ubn6SYMLjA+XBucfl01vtVEE7oXXHckTwNmFj3rmjC4t42DxOyMODKSCO8VeNC7XcRGAuJRZh9YfFyd9hunwFWzWXZdh8Rd4PiJDmd0XjY/aTmPWtu+hxpnUDG4a5aIyIPpxXcW6SAN4d4rWEtPUizs/vmskxT05u3L7ImaP2pYGTznaI9EiG38y3FT+E1gw0vyU8T9kik+F71zkRnbnHNz1giuHaOYd0kLtukXjeAK6dVweBv2Z1muZElYeaxHYSPZW4aRlHCWT+8b86V+mn6vD3Tf1IfT4+y6VvXlpAOJA7Taua2x8p4ySH+NvzrSzk8ST2m9A0b/bw914dJf18fZdG4nT2Gj+UnhX70qD2mofF7ScBH+3DnojVn9YFvXQItWaY3RzOJKW7SL+ACK+P2zRD5vBI/W7BB4DePsqsaS2qY2XJCkI+wt2/me/qAqngXNhmejn8KmdHam42e3k8PJY/SYeTXxe1+6nimgixIHakGpnlwBPYo3GY+SZt6aR5G6XYse6/CtFEPRexyZrHEzJGPqxgu38xsB66umh9nWCw9iIvKsPpSnfN+pfNHcK5fWwswbj1LtlFK/F2HWg/oTVLFYs/EREr9duTGP4jx7rmipqVs8XBN5WSQySlSvJFo1BsTYHNjkMzbsq4hbcKzWbNWvlGqMAtGGjZGb5lKlXl5ABckAdJyFR8+mR+zUv18F8Tx7qiVqkr1D6V1nihBz326F4d5qJ0jjJXyZrD6q5L39PfVexkFCFD60aySzk35K/VHDv6e+qwH66ltKR51RpccxYkcCSR2E0yOPXXEkgYuitRPmq9gqXnTOojUT5qvYKnJBS12mEkVb4NIlcnzHSOPf016Za0vHQhScU6t5pB/10VsqBMdsxW6PSDrxO92/nQhOdI6Bw8/y8McnWyAt3NxHjVexeyrAP5qPH9yQ+xrirCmlx9JSOzOt6Y+M/SHfl7aY2V7N0lLdEx+8AqFPsYgPmYiUfeVG9gFNm2KjmxR74f/ADolrKDwIPfXunCsmH8vJJNHCf4+aGA2K/8A2v8A8f8AzrdHsWj+liXPZGo9pNEmlXvxs31eAXnwcP0+aocGx7CDz5J3/iVR6lv66lcLs20en7AMftuz+om3qqylwOJHjWtsYg4sPG9LdUSuzcUxtPE3JoWvB6KhiFoYo4/uIq+wU6pqdIpzXPYD+NeDj2Pmp/MfwFJJJzTgAMk9rBa3GmO854sB90fia9LhF+ldj9o73q4V4vVsbHrwW7noUX9fCvN5W+rGP5m/Ieuty5cK9g0ITJsAvFrueljfwHAVpmiqSYU2lShChMTFULjIasuIjqJxcNCEOdbJPJxu3PbdHa2X5nuoerwq47RcX8YsQ+iN5vvNwHcM/wCKqcvCtCFmqy/SoJn6z7DguktRPmq9gqeNQGoh/RV7BU/z1nq9eWWtbLTi1CDXLX+d53jw0hiijYoChs0hU2LFuIFwbAWyp8EDpnWakTTthbdyKLLWpkoM6N13xkLhhM8gvmkjF1YdGeY7RRi0djlnhjlTzZEDAc4vxB6wbjuruemdDa+S5gqWzXtmkVrWVpwy1XNI68YSFmRnZmUlSEQmzDIi5sOPXSGMc82aLpz3tYLuNlMlaxvHprzhMSssaSJfddQ4uLGzC4uOmvZFckWwXYN8Vjyh6T40t89NYIrFeIXsVsU1qBr0DQhOVatqtTZWrahoQnStW1TTZWrcrUITgGvYNaVNapNKRK4jaRA54IWAY34Zca9AJyXhIGaeVrda1xaQjbc3ZEPlAWSzA76jMlPrAAjhW9hRay9vdMJ46hNM4hYYnkk81FJPX0AdZNh31Y5UoTbUNYQ8gw0Z5MZvKRzy8y/wg59Z6qdTwmV4b3pE8oiYXdyHGmcU0kju/nOxY9p5h1Dh3VHrwp3jqaLwrUmFjYLMhNxcrpDUQ/oq9gqevnVf1FP6KvYKnSc6xFtLRprSIgw00p/Zxsw+8ByR42oB6JwJnnii4mSRUP8AEw3j4XNFTappHcwQjHGaRV/gTlt6wnjVP2WaP8pjwx4QxtJ/ERuL75PdWvSfLgdJzh7rIq/mTtj5xWdqWjBFjQyABZYlYACw3k+LPqVfGrVstx2/gzGeMMhH8D8tfXveFeNsGj97DwyjjHIUP3ZB/mQeNV/ZPpDdxTxHhLGbffjO8P6S9B+bSfcensgfKq7cD6+6tGs2vSYObyTRO53Ve4ZVHKvYZjqoT6RxXlZpJALB5GexzsGYm1++jhpfVXDYlt6eIM1gu9dlbdHAXUjpoJaWw6xzyonmpK6rc3O6rEDPnyFd0BjIs0Y2xXNeJP5HC+CuGjNpEcUEcZgcmONUJDqAd0Wva1X6OTeVWHBlDdxAOfjVV0NqDhJMNDI6uWeJGa0hALMoJy5qztD0oYMMkUfJMvIy4iFALjvuo7L1JKyOWQMiFjfFVxvkijL5TcWwS0ttBw8TFYw0xGRKkBL/AHjx7hao2Laet+XhyB9mQE+BUe2q1qxq42MlKg7qKN52tcgHIBR0n8DVo0ls0QRk4d33wLgPukORzXAFiapdFSxHUfn2qZstVKNdmXYrLobT0OJXeha5HnKcnW/SOjrGVPsTiljRnkNlQFmPGwHHIUGdD6TbDzJKt+SeUPrJ9JT3eu1FTWVwcFORwMLEdhFxUtRSiOQAZFVU9TtYyTmFD4nafAvycUj9Z3UH4n1U3TavnnhsuqXP3KpOiMGJp4o2JAeRVJHEAnmvV/xGzGAoRFJIr2yLFWW/NcBRl2Gq5IqWEhrx5qSOWqmBcw5dSkMNtNwhQs/lEYfQ3N5j90jkkdpFR8+15Afi8OxHS0gU+AU+2hs6kEg8RcHtGRonYLZfhWjUtJMxZQ1wVUcoA5DdPT00SQU0OL74ojnqZsGWwT7Qe1PDzOEmRoCxsGLBo7npYAFe0i1WvFYAvIrhgN2KaO2fGXydj2DyZ8aBGsehjhcS8JO8FsQ1rbyMAykjpsbd1GHUDSRmwELObsoMZPOfJsVF/wCHdqepgZG0SR5H1CfTTukcY5Mx6L3ofVMwyRMZAwiG6o3SN1GiIdV7ZWZuwKOarNWsGo/WHWGLBwmWY9SqPOd+ZV/PmGdREulcOJVoDY29AUXr5rYMFByCDNJcRjo6ZCOges266BjuSSWJJJuScyScySemnum9NSYqZppjdm4AcFUcFXqH5nnphW/TU4hZbjxWBUzmZ324KPxtNF4U6xtNV4VPNvKiHdXRmox/Rl7BU4TnUBqOf0ZeypwnOsRbaF21fSO/iY4hwijufvyHeP8ASF8ahdVtb5MAZDCkbmQKCX3sgtyALEdPqpnrHpDy+Kml5mka33Ad1f6QKJOq+zzCPhIXxERaR4w7Hyjr5/KUWVgBySK3nGOCBrZBcclYLQ+adzozzkqlp3aRPi4HhlihCvbNd/eBVgwIu1uIqD1b0j5DFwS8ySLvfcJ3W/pJowDZlo79yf72X/NQY0rgTDPLEf2cjp3KxAPhY17TyQyAsYLLyojljIe83XQ5WufdYfneI9PL/iNRx1V0h5fBwSHi0ahvvpyG9amgfrGP0vEenl/xGqbR7S2RwKqr3a0bSEY9Wl/QsN6CP3BVH2r/ACsHo394VfNWB+hYb0EfuCqbtZwRtBKBkC8Z6i1mX3W8KRTG1T2n1T6kXpsOgLXssXkYj70fuvV5tn30ONmumEjkkikYL5UKUJNgXW43b9JBy7KIGktIRwRmSVgqqL58WPMqjnJrmsY7bnDPLuXVG4bEY5Z96CmlBaaUD95J77UT9IG+i2/4Rf8ADWhZIzSOSBdpHJt9p24eJos6dg3NHyp9TD7v8qgfhVtZgYx9/wAKGjxEh+35Q01Z+eYf0ye2jQhzFBfVn55h/TJ7aM6HMUjSW+OpUaO3HdaBmkPlZPSP7xo56Ib4iH0UfuLQM0h8rJ6R/eNG/RB+Ii9FH7i0zSG4xL0fvvQy2lfP29HF7tXrZcf0BfSy+0VRNpHz9vRx+7U5qvrfDgtGrv8ALlMkpSIHM5jNj9FevwvXUrHPpmNaMcPJcxPaypeXHDHzRA03rBFhIjLO1hwVR5zt9VRzn1DnoIayayS42YySmwGSIDyY06B0npPP4AadN6clxcpkna54KBkqL9VBzD1nnphT6WlEIuc1PU1RlNhklWKzWKtUajsbTVeFOsbTVeFZs28tGHdXQ+pJ/Rl7BT3TMriCUxKWfybbgHEuQQLePqqO1KP6MvZUuWzrFBsbraIuLINYbU7Fs6qcPKAzBSShAAJsSSeAAo6wAKAF4AADsAsPVTJGpzG1UVFS6e1xkp4KZsN7HNP0ahJtE1RxDY55MPDJIkqq10XeAcDdYG3A8kHvorxtW4VzBMYXawXU8ImbqlUzZjhZ4sK8WJiePdlJTfFrq6gmw6mv41UdfNSMQMVJNBG0scrb/IG8yOfODKM7XuQQOejERXhhTGVTmSGQDPguH0rXxiMnJAPC4fSSgJEuMUDIKomUDsHAUWsRokYjCLDiQSWiQPnyhKFW7X+sGvU6wrSy0TVJkIIFrIhphGCCb3QV0zqDioGO6hmTmaMXy+0nnKfEddRkegcU5sIJieuN8u8iwo8MtanFPbpF4GICndo9hOBKoOqOorROJsVbfXNIwb7rfWcjK45gKsWsOHZ8LMiAszRsABxJtwFS7CtTCo3zue/XcrGQtYzUahRq/q9iVxULPBIqrIrElSAADckk0VVNYIpCuqiczEEheQQCEEAoRY/VjFGSS2HlILuQQhIILGxBHGi1gfi4U8pZdyNA1yAF3UANzwFrVBab13w+Huqnysg+ihFgftPwHYLmh9pzWefFH41rJfKNckHaPpHrPqq7UlqgNYWAUOvFSk6puSnGu2ko58Y7wtvLuou8OBKixtfiL89QNKlWqxgY0NHBZT3l7i48UqVKlXS5SrFZpUIUdjaaLwp3jaaLwrNm3low7q6A1Mb9HHZUoz51D6oH9HXsqRd86xFtp0j05jeo5Hp1E9CFJRPTpGqOienkbUITisEUgayaELUwrUy04IrWwoQmzLWlhW7FzpGN6RlQdLMFHiaq2k9ouCiuFczN0RLcfzmy+F6YyN790XXD5GM3jZTzCtE8qopZ2CqOJYgAd5yoc6U2pTvcYeNIh0n4x/XZR4Gqnj9JyztvTyNIftG4HYOA7qtj0e92+bKGTSDG7ouiNpfaHh47iG8zdXJT+Y8e4GqTpjW7EYi4Z9xD9BOStvtHi3eahqmNUtHibFKrQviFCszRowViALA7xYWAYrz1ospooBrWvbnqWe+plmOre1+etQ9KpvC6sYjFtI+Dw7GLyjBeULKL3CbzHMgEdNM9I6AxEEixTRMsj23Vtcvc2G7u3DZ5ZVQJGk2vj0KcxuAvbBMKVTmM1IxsUZkkw7KijeY3U7qjMkgG4Fe8bgETAQE4aRZZXJE5YFZEu3JRA1+dOI5j015tWm1jfgvdk7G4soClVz1Z2c4l54ji4GWAkl7sFO7ukgEA7wubCod9XZMRip0wELOiSuBY5KgYqt3Y2ztzmvBMwkgHLjwXpheACRn3qEpVP4fQrYeV48dAAfISSKJGYAtGjMu6yOAwLAAjPup9h9EYRljdiATBZ08oc8RJG0iOM7hQFcEdKKPpUGZoXohcVQcbTReFOsZTVeFRTbyrh3UeNUj+jr2U9d86HWBx8ipZZHXqDEfjUXPpqfePx0v94351MNHuJ3lUdINH8UXEenUTUFDpmf8AfS/3jfnXhtJSnjLIf+Y3511+mu+pcfqLfpR6je3GvZ0rCnyksa/ekVfaa58eZj5zE9pJ9teLV2NG9LvD3XJ0l0N8fZHyfXrAR+diYz90l/cBqKxe1zBL5glk7E3R4uR7KDNKnN0fEMySku0hIcgAiTjts7n5DDqOuRy39Kge2q5j9pGPlv8AHeTHREoT+rNvXVZpVQymibk1TvqZXZuWzE4p5DvSsznpZix8TWulSqjJT5pUqxSoQs1d9mvxaY7E/ucMQD9pt5v+2Ko9PsLpqaOGSGN92Oa3lF3RyrcOURcdxpUzC9mqOcU2F4Y/WKtek5mw+g8IqMytPK0hIJUlRvniOa25UhrXpGTDvoyymWXDweVcG7M1witvEAn6LZ1RMfpqaZIo5X3kgXcjG6oCrYDmGfmjj0U8bXHFmcYjyx8qE8mGCoB5O993dta1+qkbA5m3E9/sn7duQvwHd7qz62wriMK+kMJLPGHbcnhdmALNZSFzsRcjLMEHmtap44NRj9F4ZrWw+GMpH/ybm6D27yE91DnTGt+LxQUYiUsqkMFCqq7w4EhRme2tWK1lxMmIXEPKfLIAFcAKQFvYAAW5zzZ3NcfDvLbE9PiLD1XfxDA64HR4G5V51Rx8rY7H4mcvuwxyndYtZeWd0WOQssZFZ0e8UWhoTKcSoxErPI+GA3y+83JcngLKB/DaqnpDX/HTRtHJNyHBVgERd5TkQSBfPqpvobXHF4VCmHlKoTfdKqwBPErvDLuoNO844cMOodNvRAqGDDHjj19vqpXXrTsc0WFijXEfEo3LxChZHU7oU3vyvMOfVVQtTvSelZcRIZMQ5kcgC5sMhwAAAAGZ8aaVXEzUaGqSV+u4uUdjaarwp1jabpGbDI8OioZt5Ww7qImv2hJMDOxAPkJWLRvzAsbmMnmIN7dIt11R5cfc11JjsMkkbLIqupU3VlDKe0HI1zBrHh1TEyKiqoDGwAAAz5gKRDUucLFUTUzWm4Tf4bWPhtNd0Ut0U/bOU+xanfw2l8NppuiluijbORsWp18NpfDaa7o6KW6OijbORsWp18NpfDaa7o6KW6OijbORsWp18NrPw2mm6Oilujoo2zkbFqd/DaXw2mm6KW6KNs5Gxanfw2l8NppuiluijbORsWp38NpfDaabopbo6KNs5GxanXw2l8Nprujopbo6KNs5GxanXw2l8Nprujopbo6KNs5Gxanfw2sfDaa7o6K9RoLjIcRRtnI2LU+0TombGTrDh1LOx7kXndzzKOn8a6E0fs+wkcUcZjDlEVCx4sVUAses2vS2faPijwUZijRC4uxVApY9LWGZ7as1Zk0xeVpwwhgX/9k=" id="106" name="Google Shape;106;p16"/>
          <p:cNvSpPr/>
          <p:nvPr/>
        </p:nvSpPr>
        <p:spPr>
          <a:xfrm>
            <a:off x="63500" y="-203200"/>
            <a:ext cx="304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117451" y="5215217"/>
            <a:ext cx="1303020" cy="619760"/>
          </a:xfrm>
          <a:prstGeom prst="rect">
            <a:avLst/>
          </a:prstGeom>
          <a:solidFill>
            <a:srgbClr val="0F243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Crypto – `N`</a:t>
            </a:r>
            <a:endParaRPr sz="800">
              <a:solidFill>
                <a:srgbClr val="B6DDE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1581830" y="850731"/>
            <a:ext cx="2450592" cy="203275"/>
          </a:xfrm>
          <a:prstGeom prst="roundRect">
            <a:avLst>
              <a:gd fmla="val 16667" name="adj"/>
            </a:avLst>
          </a:prstGeom>
          <a:solidFill>
            <a:srgbClr val="3185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387164" y="6328459"/>
            <a:ext cx="908311" cy="329184"/>
          </a:xfrm>
          <a:prstGeom prst="roundRect">
            <a:avLst>
              <a:gd fmla="val 16667" name="adj"/>
            </a:avLst>
          </a:prstGeom>
          <a:solidFill>
            <a:srgbClr val="F2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and specifications gathering</a:t>
            </a:r>
            <a:endParaRPr b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APEBMQEBIVFBEUFREYGBIVERQRExAXFRUWFRYUExYXHCggFx8jGxIYIC8gIycpLCwsFx4xNjAqNSYrLCkBCQoKDgwOGg8PGi8kHiUsNi8tNTU0LC81LCktNSksLi80KTM0LC8tNSo1NC80LywtLCwsLC8sLCwtLCwsLC02NP/AABEIAOEA4QMBIgACEQEDEQH/xAAbAAEAAgMBAQAAAAAAAAAAAAAABQYDBAcCAf/EAEEQAAIBAgMFBQUGAwYHAQAAAAABAgMRBBIhBQYTMVEiQWFxoXKBkbHBFDIzNEJSFpLRFSMkgrLhU1Ric7Pw8UP/xAAaAQEAAgMBAAAAAAAAAAAAAAAABAUBAgMG/8QANBEAAgIBAgIHBQgDAQAAAAAAAAECAxEEMRIhBRNBUWGBsSJxkcHwFCQyMzRCofGy0eEj/9oADAMBAAIRAxEAPwDuIAAAAAAAAAAAAAAAAAAAAAAAAAAAAAAAAAAAAAAAAAAAAAAAAAAAAAAAAAAAAAAAAAAAAAAAAAAAAAAAAAAAAAAAAAAAAAAAAAAAAAAAAAAAAAAAAAAAAAAAAAAAAAAAAAAAAAAAAAAAAAAAAAAAAAAPDrRWjkr+aPUZJ6p38tTGUD6ADIAAAAAAAAAAAAAAAAAAAAAAAAABrYraVGl+JUjF9G9fgtTWUlFZbwYbwbJ8btqyPwO3qFebhCTzd11lzdct+ZD761pLhxTai1O6vo7ZbX68yPbqoQqdseaXcaSmlHiRLfxHhuJw+Ir/ALv0X6ZuX0JJO5y0tm5VaTVWLbcY5LJvSN817dORX6PpKV1nVzW+xyrucnhlnBG47eChRmqc5PN32WbL0zWNjCbTo1vw6kZPpfX4PUtVdW5cKksnfiWcZNoAHU2OebwL/FVfa+iLVul+Vj7U/mVXeD81V9r6ItO6bthV7U/mee0P6yzz9UQ6vzGTQI6tvDhoOzqq/gnL1SNrCY6nWWanJSXh3ea5ovY2wk+FSTfvJaknyyZwaVfbNCnJwnUjGS5p3uu82MPiYVIqcJKUXfVeGhlWRb4U1kZWxlB5qTUU5N2STbfRLmzRht7DNpKrFttJLXVvkJWRj+JpBtLckAaE9u4aLcXVimm01ro1o0btOopJSi7ppNPqnyYjOMniLTCaex6BgxWNp0kpVJKKbtd975/Qx4XatGrLLTmpStey6dfUOyKfC2sjK2NsGKviYU1mnJRXVtIj3vPhb24nvyyt8jE7a4fikl5hyS3ZKgw4XGU6qzU5KS8He3n0MxummsoyAAZAAAAOc7ZxXFr1J92ZpeUeyvkdGKrvBuy2+LQjzfaprx74/wBCr6TpssqXBzw8s4Xxco8isQm0007NaprRp9UW/EbKnjMPSqTllqKLd7dlp69rpoly+BCLdurFKVaUaUX+55n7lG5YNm491Ks6UfwnF5f+hRSirefQqtIo1y6q/wDfyS/nON1tv4jT6acoyk1yKz/YNfNly6WvnuuHbrn5fUsVDZc8Hhqs6c81RxTvbspL9vXRvmY/4frX4eb+753u7fy9f/bmxtPHuFWNKX4WW0v+tSTi2/Lp4G1Cjp4ystg4bJNvZvKfdyXf8CUtFBPFcsvn9e8pUpNttu7erb1bfVm5sXFcLEU5d2ZJ+Uuy/mbL3bqyTlRlGrFdHlfvUrEpu/uy01Vrx1T7NN+H6pf0OGn0t0rYtLxz2fHtK1VTU8NYLSAD1xPOebwfmqvtfRHzCPEV4rD07uKu2lotXe82fd4PzVX2voi07oxX2ZO2rlO766955amnrtVOGcLnn3Z2IEY8VjRWNpbArYeKnPK4t27Lbs/G6Mu62JcMTGKek7xa66Nr1RYd7/yz9qHzKxu9+ape0/8ASza2mOn1cIw8PXBmUVCxJElvnhMtSFRcpKz84/7P0NrcrF3jOk+5qS8no/VL4m/vRhOJhpPvhaS93P0bKtu5i+HiYPul2X/m5etiRb931yl2S+fL15m8vYtz3lo3qxfDw7XfNqPu5v0XqVrdnC8TEx6QvJ+7l6tG3vli81WNNcoRu/OX+yXxN7cvCWhOq/1PKvKPP1foLPvGuUeyPy5+oft247iG3nw3DxM+krSXv5+qZZN1MTnw0V3wbj9V6M0d9cL2adVdzcX79V8n8TX3KxVp1Kf7kpLzi7P0l6Cr/wANe49kvnz9RH2bcd431xV5wpr9Kcn5y0XovU8bu1o4ejWxMl0hFfufO3xa+BGbbxXFxFSXdmaXlHsr5G9tag6WDw0P3OU35tXXpIju1yvsvX7dv8UacXtyl3f0aLlWxlZJvNOXLujFeHRImJ7kyy3VVOXTK0vjf6Ebu9tKGHqSnUTayNKyu73T+hJ4nfaX/wCdNLxm7+i/qY0/2V1ueoeZP3/XxEOrxme5B0K9XC1bq8Zxdmu5+D6o6BgMZGtTjUjykuXR8mvcyi1KOIxc3U4bk3bVQyx05a8i17tYGrQpOFVJdq6Sd7XWt7eKJXRjnGxxSfA9jejKeOwlwAXxLAAAKTvLtl1KuSnJqELq6bWaXe9Ph8SMw20qtOcZqcm4tOzk2n4M2949l8Cq7L+7ndx8Osfd8miNoUXOShFXlJpJeLPH6id3XvP4s/0Vs3Lj57l0xe26coRzU81OpFO+b4q1uaZJYLBUoK9OK1S7XNtc+bImtsBxhCCnGNOmtW73bes5MmcJUp5VGnJOKSWjTt5l1plZLUSd6Wy4ds+OO3GS6bXVRxv274M5q43B0prNUitE+1yaXPmjaMGLqU1Fqo0otNatK5Y3KLg1NJrx2OMG0+RFYTbcIwlanlpU4t3zfyq1ubfiVHE7QqVJym5O8neyk0l4ItdDYOaE454ypVFo1e6a1jJeRT8RQlTlKElaUW00eY1EtSqYdby37vLbsxt5nDX44/Y289yX3a2w6VXJOTcJ2Wrvll3PX4f/AAvBQt3Nl8erdr+7hZy8ekff8kX0t+inY6fa2zyNKM8PM55vB+aq+19EWrdL8tH2p/Mqu8D/AMVV9r6ItW6X5aPtT+ZD0P6yzz9Uc6vzGed7/wAs/ah8ysbvfmqXtP8A0ss+9/5Z+1D5lY3ef+Kpe0/9LGu/Ww8vUW/mryOgVIKScXyaafkzmmIoulUlDvhJq/k9GdNKTvfhMlfOuVSKfvjo/S3xJPS1XFWprsfqb6iOY5IjGYp1akqkucne30OhbKwnCo04d6ir+b1fqyjbDwnFxFOPde78o6/S3vOiHPomDfHbLd8vmzGnWcyZHbfwvEw9Rd6WZecdfoUbZ+NdGoqkeazeqa+p0lq5zTHYfhVJ0/2ykvcnp6WNelouEoWx3/1zRjULDUkfMFh3VqQh+6UV8Xq/gXHevBZ8PeK/Daf+W1n87+4hN0MNnr5+6EW/e+yvmy7Simmnqn3dTPR2nU9PLP7vl/0zTDMH4nMaDipxzpuF1mS0bXfY6Bgdl4aKUqcI2aTUrZm/G7KrtvdydGTlTTlS8NXDwl/Uj8NtWtSWWFSUV0vde5PkRNPZ9im43Q+vA5Ql1TxJFy2/tz7MoqKUpyf3X3RXfp429TzsLb0sU5J08qik8yldXb0XLz+BUcPhK2Jn2VKcnzk22l5yfIvOx9lxw1PItZPWUur/AKFjpb79RdxrlA7wnKcs9hvAAtyQAAAeZQT5pPzVyvbe3gjRfDoqPEXOVk1Dw8X8ixnN9rYbhV6kOknbyeq9GVnSV06a04dvLPccL5OK5ElLeh1Y5K8LrrCTg/O2qZLbKwUqdeclrTSfaf6k0pK3V8imF1/tf7LhaSrRfEcbKHK6Wnafdo14lTpXG6zrbnzhzz8VhvzNtPqpxjKMnyPP8TvNfJ2Ol+1535e4+7VwcqlaEn+G0u0v0pJyd+j5lf8A4gqXtlhw/wDhZez53538blhjtb7VhqqoxaqKFnDnz07L79Ezep/aoSrvs4tmljG3NrxT+PgSlrK081Rw+ZDx3odKOShTUV1nJzfnbRIk9g7wqs+HWy8R8pWSU/DwfzKezb2VhuLXpw6yV/Jav0Rw0+sujOMVttjsKxX2SnlvJ0eMUuSsfQD1pOMUsLBu7hFvq4ps9wpqKskkuiVkegYwgeZ01JWkk10aueI4aCd1CKfVRSZlAwgfJSS1bsvHQpm9e1YVpRhTaahe8lybfcn00Mm3diYiriJyhBuDy2eaKT7KXJvwPmz9zqkpJ1mox70neT8NNEUuqs1F+aYVtLO/eRbHOfspG1uZgLKVZrn2Y+S+8/jZe5lnIfbm0/sdGmqUI5p1KdKClLJTg5Xs5vore8+4Opj41YxrRoTpSvedNzpypNK6vGbeZPloy009KprUF2HeEeGOCXNHamIoUKcq1aKypxvLJmfakorkr82iLobWxmLc54SNGNCMpRjOtnlKu4NxlKKg1ljdNJu705EfvDtZ4jZuIU4cOtSq0YVKd8yjJVqTvF98Wmmn4nZrJuW+nRjH7sUr9Elf4Hsi6O1JvG1MNZZIUaVRPXM3OcotPW1uyYtpbVrRxUMNSUL1KFeac81lODgop2f3e3r3mQSWFxtOrn4clLJOUJW/TKNrxfxMGDnh8TBVqcYyjK9pOnZuzaf3lfmmVvc/7bxMRfgcP7XW4tuJnzWjfh91uXPxNzD71TeDoVVTjLEYicoU6UW4wclKacm3dqKjC7ZhpPcFljFJWSsui0PpXqm1cXhXCWLVGVGcowc6WeLoSm7RclNvNG7SurWvyPP9tYypicRh6FKk1SlTSqznKMYqUFLtRV3N3fdZeJkFjBWFvPWw/wBphi4QlUoUlWTo5lGrB3VrS1i1JWfxM+Hxe0nGFXLhqkJ5G6cJTjKMZd8akm4zte/JXtoAWAAAAj8fsKhXeace1p2k2np6EgDScIzWJLKMNJ7kNs/delRqcS7nb7qlbsvrpzZH77x/Cfd29e79JaTxVpRmnGSTi+aaumRrNJCVLqhyyaSrXC4o5eWnchfivu7Gv8xvfwjQ4mfXJ/w76X8+dvAmaVKMEoxSUVySVkiv0XR1lVvWTe38nGqlxllkVtDdijWqcRtxb+8o27T668mbGA2FQoPNCPa/c229fkSALVaepS41FZJHBHOcAAHc2AAAAAAAAAIveLE4eFF/aoOdCTUZf3bqRgn+udvupde7QrdOrQw9fDx2finUjVqRjPDKt9ohGk081RXbdPLa/PUvDRho4OnTbcIRi3zcYqN/O3MArW6+1qOEofZMTUhRq0HUTVSShni5ylGpDN95NPuIjabdXCbQxdmqdetheHdZXOFOdKCqWfJSa0L5XwlOpbPCMrcs0VK3lfkZJU01ZpNdGrr4AFYxO0KWF2pKdeapwq4amoTk8sHKnUm5RzPRO0kzFT2rTxO1aEqV3BYfEpVMrUKnapX4bf3kuvLpctVbDQqK04xklraUVJJ9dT1w1dOyulZO2qXRAFa3Xx1KFbGUJzjGq8XVkqcpKM5RnGLi4p6u6XcQ2y3wsJs7FtN0qFTEqpZOThGrKpDiWXdF2v4MvUsJTc1Nwi5rlNxTkvJ80ZI00lZJJdErIAqu9O1qOLorCYapCrVrypJKnJT4cFOM5VJtfdSUe/qbewPz20f+5h//AAom6OEpwu4QjG/PLFRv525mRQSbaSu+btq/MAq+JxEae0sRKcXOKwNO8Iw4kpLizulHv8iIx1XA0KLxGzcU6dbRww8KjlGtJv8ADlh5Xavy0SsX/hq+ayva17a26XMawdNSzqEc/wC7Ks3xtcAj/t2K/wCXX86PpKgAAAAAAAAAAAAAAAAAAAAAAAAAAAAAAAAAAAAAAAAAAAAAAAAAAAAAAAAAAAAAAAAAAAAAAAAAAAAAAAAAAAAAAAAAAAAAAAAAAAAAAAAAAAAAAAAAAAAAAAAAAAAAAAAAAAAAAAAAAAAAAAAAAAAAAAAAAAAAAAAAAAAAAAAAAAAAAAAAAAAAAAAAAAAAAAAAAAAAAAAAAAAAAAAAAAAAAAAAAAAAAAAAAAAAAAAAAAAAAAAAAAAAAAAAAAAAAAAAAAAAAAAAAAAAAA//2Q==" id="110" name="Google Shape;110;p16"/>
          <p:cNvSpPr/>
          <p:nvPr/>
        </p:nvSpPr>
        <p:spPr>
          <a:xfrm>
            <a:off x="368300" y="203200"/>
            <a:ext cx="304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BDAAkGBwgHBgkIBwgKCgkLDRYPDQwMDRsUFRAWIB0iIiAdHx8kKDQsJCYxJx8fLT0tMTU3Ojo6Iys/RD84QzQ5Ojf/2wBDAQoKCg0MDRoPDxo3JR8lNzc3Nzc3Nzc3Nzc3Nzc3Nzc3Nzc3Nzc3Nzc3Nzc3Nzc3Nzc3Nzc3Nzc3Nzc3Nzc3Nzf/wAARCAC3ARMDASIAAhEBAxEB/8QAHAABAQADAQEBAQAAAAAAAAAAAAEGBwgFAwIE/8QATxAAAQMDAQMECg0ICQUAAAAAAAECAwQFEQYHITESQVFhCBMiN1Vxc4GTsRQVFhcyNDZCcnSRlNIzUlahsrPR0yMkVGJ1gpLC8BglQ6LB/8QAGQEBAAMBAQAAAAAAAAAAAAAAAAMFBgQC/8QAKBEBAAEDAgUEAgMAAAAAAAAAAAIBAwQREgUTIUFxMTNRkRRSobHB/9oADAMBAAIRAxEAPwDeAAAApAAwAAwAAGAMAAAAAAAAFAgAAAAAAAAAAAAAAEAAoAgKQAAUAAAIUhQIAAKQpAAAAAAAAAKQAAAAKQpAAAAAACkAAAAAAAAAAAAAAAAKAIUhQIAAAKQCkAUAAAABQBCgCFIAAAAFIABQRQAAAFIAAAAAAAAAAAAAoAhQQAUhQBAAABQICkAAoAgKAICgCAFAgKAIAAABQIAqjIAAZAAZAAAAAABQAAIUgAALwAxDXW0O0aJnpIbnDVzyVTHPa2maxytRFRMu5Tk45XHiUxj3+tMeDrx6KL+Yae2oagXUetbhWMerqaN/aKfhujZu3dSrynf5jFcLjIHXuiNaWzWtDUVdrjqIkp5e1yR1CNR6bkVFw1V3Lv8AsUyU5c2KalTT+s4IJ5OTR3LFNLngjlX+jd/q3eJyqdRIAP4L9dYbHZqy6VTJHw0sSyPbGiK5UToyqJnznoGMbTe9/fvqbwMP9/rTHg68eii/mGdaQ1XbNXWpLhaXv5COVkkUqIkkTuhyIq+PiccmQaJ1bcNHXplwoF5ca4bUUzlw2dnQvQvQvMvSmUUOwinm6evdDqG0U9ztkvbKeduUzxavO1ycyou5T0VwgH4nmjghfNNI2OONque964RqJvVVXmQ1fNt30tHNJGyjuszWuVrZGQsRr0ReKZei4XrRFMP207SHXSebTljm/qETuTVzsX4w5Pmp/cRePSvUm/UAHWmhdoNr1tLWR2umrYVpGsc9alrUzys4xyXL0Kerq7UdJpSyS3avinlgic1rmwIiu7pcJjKonP0moexo+N3/AMnB63mb7du9xXeWh/bQDyff60x4OvHoov5g9/rTHg68eii/mHOZk1m0Bqm+W6K42q0SVFJLyuRKksaI7Cqi7lci8UUDc7NvOl3PRFoLuxF+csUeE+x571p2saNucqRNuzaaRUzirjdEn+pe5/WaDqNmOtaeJ0smn6lWtTKpG5j3eZGqqr5jFqqlqaKofT1kEsE7Fw+KVitc3n3ou9AO2Ypo5o2yRSMkY5MtcxyKip1Kh9DkXRWur1pCqa+gnWWkVydtopVVY3pz4/NXrT9fA6i0pqOg1TZYLpbJFdFJuex3wonpxa5OlP17l4KB6ymAa0ob1a3Pr7dca51E5cyRpM5VhXp4/B9Xi4bAI9iPaqORFRUwqLwUIMixS9DbrpX5o0j7f3jwpWemcPb+8eFaz0zj3da6TW1vdX29irROXL40/wDAv4fV4jEd4ZPI/IsTrCcq/dXo+3948KVnpnD2/vHhSs9M480oQ8+7+1ft6Pt/efClZ6Zw9v7x4UrfTOPOAOfd/av23bpmWSfT9ulme6SR9OxXPcuVcuOKqeoeRpP5M2v6sz1HrBtbPW3HxQAASKQpABiG1fUK6b0TXVMT+RVTp7Gp8LheW/dlOtE5S+Yy8517ITUXs/UsFlgeqw26PMqIu5ZXoi+fDeT9qganNj1egHQ7IabUaQu9ndvWok3b/YzsNTh1o13UjlMK03Z5r/fqC1U2UfVTNj5Sb+S35zvMmV8x2HLaaKWzOtDoWpQup/Y3akTCJHyeThPMBxWiq1yKi4VOdDrvZxqRuqdJUNxV6OqUb2mqTolbud4s7neJyHKeoLTPYr3W2qr/ACtLK6NVxjlInB3iVML5zZPY+al9rtQz2OokXtFxbyokVdzZmIq+bLc/6UA6JMZ2m97+/fU3mTGM7Te9/fvqbwOQy43ZIbc2d6JptZ7MbhFhkdxp7jI6knduwvao+4cv5q8/RxAxnZhruo0beESVzpLTUuRKqDjjokb/AHk/Wm7oVNh7Ydp8cdE2y6Yq2SPqokdU1kLsoyNyZRjV6VRd68yda7tH3GhqrZXT0VdA+CpgerJI38Wqn/OJ/PvXcBAbn2PbOkmpPdRfIEWNI3PoKeRvwlwuJXIvN+b9vQaYA3X2NHxy/wDk4PW8zfbt3uK7y0P7aGEdjR8cv/k4PW8zfbt3t67y0P7aAcunVGw/vZ2n6U/755yudT7EO9nafpT/AL54Gd4QxvXGjbbrC1PpK6JjKlrV9jVaNy+F3N429LeC+PCpkoA4nutvqLTc6m31jORUUsropE5uU1cburoNjbAdRyW3Vi2eRzlpbm1URvM2VqK5rvOiOTrynQebtzpG020evexyL7IjilVE+avIRq/s585j2gpXw63sD43K13tjA3KdCyIip9iqB2IFHA8y/XqlstE6pqnZVd0caL3UjuhP4h5nOMI1lKulKPzqO8Udmt8k9bh6ORWsh3ZlXHBP/pU07Y8J/wBmt33Vn8DUF8utVeKuSqrHZdhUYxPgsb0J/wA3m804BwYuVHLnPp0ppp/LzPc7Y/A1u+6s/gRdO2PwNbvurP4HqBQ7uVD4o0nqmGKn1FXw08TIomSYaxjUa1qYTgiHlHs6w+VFy8r/ALUPGDFZNNL8/Nf7br0l8mbZ9WZ6j1jydJfJm2fVmeo9YNnY9qPigAAlUhSAfxXq5QWe01lyqVxDSwulf1o1M48a8DjS6V890uVVcKt3KqKmV0si82XLlcdRvjsitQpTWWjsEEuJax/b52pj8kxe5RU44V+FT6CnPoGWbNtT2/SF9fdq6gkrZWwuZA1jkb2tztyuyqccZTzqbQ/6gLf4AqvvDf4GH0mxDVlTSw1HbbbF22Nr+1yTvRzMpnC4YqZTxn194nVn9qtPp3/gAxvaTqi36vvjLrQ0EtHK6FI52vejkeqcHbk443eZDGqCsmt9dT1tK/kT08rZY3dDmrlP1obIfsL1Y1jneyLU7CZwk78r/wChrF7XMcrXtVrkXCoqYVFA7N0zeoNQ2Ghu1KqdrqokfyUXPIdwc1etFRU8x5m03vf376m81v2OupVcys01Uv3szU0uejcj2/bhfOpsjab3v7/9Tf6gOQzozscd+iq//E3/ALuM5zOjOxw+Rdf/AIk/93GB/Ztf2dpqmj9s7UxrbxSsxyeCVLE+Yv8AeTmXzLzKmutkuzSovlz9sb/Ryw2ylen9DOxWrUPT5uF38lOfp4dOOj1QAfCqajaGZrURESJyIicE3HEh27WfE5/Ju9RxEBuvsaPjl/8AJwet5m23bvcV3lof20MJ7Gj45f8AycHreZvt273Fd5aH9tAOXTqjYf3srT9Kf9885XN+bLto+ldP6Ht1su1ydDVwrKr40p5HY5UjnJvRqpwVANzBXIiZVcJ0rzGAT7ZNERxq5lymlX81lLIir9qIhrHaDtiqtQ0U1rslM+ioJmqyaSVUWWVq8W7tzUXei8c9KAYftIvMV/1vdrjTKjoJJuRE5FyjmMajEcnUqNz5z67Lbc+57QLJC1HYjqmzuVqcEj7vf1dyiecxbidDbCNETWajlv8AdIVjq6xiMp43Jvjh3KqqnMrlRN3QidIG2JXciJz8Z5LVXBo+73aqvVYtZWO7pU7hifBjb0J/zebvqfi8v0F9RoGP8m3xIFDxucqUhGleldR/wF8R0CnA5/VMoqdKGVptAvqc1F6F34g5OGZlrG3czvp/ra2Rk1T74F96KL0K/iMq0hc7/ef63XJTRUKZ5PJiVHSr1ZduTrC6s8Rs357Ia6+GB6w+VFy8r/tQ8YzTX+nainrJrvBmWnmVFlTniXCJn6PqMMwGazbcrd+W6nrWtW6tJ/Jm1/Vmeo9Y8nSfyZtn1ZnqPWDX2Paj4oAoCUIABzDtKt+qdT6yr7hHp28vpWv7TTf1CXHam7kVO551y7/MfDZ/oG91usLZHdrJcaWhjmSWeSopXxs5Le6wquTG9URMdZ1LuABOAAAYOatrGgrrT62rJrHaK+ro61EqUWlppJGse5V5bVVEXfykVccyOQ6WJgDk7Stn1fp3UVBd4NM3pXUsqOVvsCXumrucnwedqqnnOjNexzXDQN3jo4J5Zp6N3a4WxuWRyqm5OTjOerBkowBxz7jdU/o1efuEv4TfewK2XC1aSrYLpQ1VFM64Pe2OphdG5W9rjTKI5E3ZRd/UbLwMAUAAfGrRVpZkRFVVjciIiZzuOPvcbqn9Grz9wl/Cdj8SAaX7Huy3W0Vd7W62ytokkjhRi1NO+Pl4V+ccpEzxQy/bRQ1lx0DWUtvpZ6qodLErYoI1keuHoq7kTJnOBgDjn3G6p/Rq8/cJfwj3G6p/Rq8/cJfwnYxQOOW6M1U5yImmrzlVxvoJU/2nv2vZDrS4SI19tZRsx+UqpmtRPMiq79R1MOAGr9D7GrVYJ4668Spc66NyOY1WcmGNenk/OXrXd1G0ETAKB8qn4vL9BfUaBZ8BviQ6Akby2OYq4RyKimHN2cWhGonsu4bt35Rn4AqeJ4d3J28vtq1kDZ3vcWj+13D0jPwH6h2eWeOVr3TVkrWqirHI9vJd1LhqLjzhV04Rk69vtjWjNKOuz21te1W0DV7lvBZ1/D185tOONsbGsY1GtamEa1MIiCONkbGsY1GtamGtamEROg/QaDExIY0NsfXvV+Xsa9rmvajmuTCoqZRUNXa00o61PdXUDVWgcuXsTesC/h9RtM/MjGyNcx7Uc1yYVFTKKgMrFhkw2y9e1Xl6T+TNs+rM9R6x8aSmio6WKmpmIyGJqNY1FzyUTgh9gntx2wpH4UEAe1IUgAAAACgQAACggDmBQAIUACAAUEKAIAABQBAUAQFAEGCkAAAAAAAAAAACkKQAAAABQBAUCAoAgwUgDAKQBgFAEBQBEBSYADAKBAAAwAUCApAAAAAAAAAGAABSFIBSAAAAAyUhQAIAKAQCgAAAQAUACFBMAUEAApCgQpAAAKBAAAAAAAAAUACAAAABSAACgAAAAAAAAACAAUAAAAAAAAAAQoAEAAAAAAAAAAAAAf/Z" id="111" name="Google Shape;111;p16"/>
          <p:cNvSpPr/>
          <p:nvPr/>
        </p:nvSpPr>
        <p:spPr>
          <a:xfrm>
            <a:off x="662623" y="345440"/>
            <a:ext cx="304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>
            <p:ph type="title"/>
          </p:nvPr>
        </p:nvSpPr>
        <p:spPr>
          <a:xfrm>
            <a:off x="349344" y="1"/>
            <a:ext cx="5455109" cy="9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Security</a:t>
            </a:r>
            <a:r>
              <a:rPr b="1" lang="en-US"/>
              <a:t> Roadmap</a:t>
            </a:r>
            <a:endParaRPr b="1"/>
          </a:p>
        </p:txBody>
      </p:sp>
      <p:sp>
        <p:nvSpPr>
          <p:cNvPr id="113" name="Google Shape;113;p16"/>
          <p:cNvSpPr/>
          <p:nvPr/>
        </p:nvSpPr>
        <p:spPr>
          <a:xfrm>
            <a:off x="215900" y="4805845"/>
            <a:ext cx="8790663" cy="79016"/>
          </a:xfrm>
          <a:prstGeom prst="roundRect">
            <a:avLst>
              <a:gd fmla="val 16667" name="adj"/>
            </a:avLst>
          </a:prstGeom>
          <a:solidFill>
            <a:srgbClr val="B6D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591111" y="1075132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2204688" y="1066299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824889" y="1066299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438466" y="1068067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079864" y="841897"/>
            <a:ext cx="2450592" cy="203275"/>
          </a:xfrm>
          <a:prstGeom prst="roundRect">
            <a:avLst>
              <a:gd fmla="val 16667" name="adj"/>
            </a:avLst>
          </a:prstGeom>
          <a:solidFill>
            <a:srgbClr val="3185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089145" y="1066299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702722" y="1057466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322923" y="1057466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936500" y="1059234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577899" y="822461"/>
            <a:ext cx="2450592" cy="203275"/>
          </a:xfrm>
          <a:prstGeom prst="roundRect">
            <a:avLst>
              <a:gd fmla="val 16667" name="adj"/>
            </a:avLst>
          </a:prstGeom>
          <a:solidFill>
            <a:srgbClr val="3185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2018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587180" y="1046863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200757" y="1038030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7813007" y="1038030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426584" y="1039798"/>
            <a:ext cx="594360" cy="213293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221395" y="6327921"/>
            <a:ext cx="908311" cy="329184"/>
          </a:xfrm>
          <a:prstGeom prst="roundRect">
            <a:avLst>
              <a:gd fmla="val 16667" name="adj"/>
            </a:avLst>
          </a:prstGeom>
          <a:solidFill>
            <a:srgbClr val="FEB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/ trial</a:t>
            </a:r>
            <a:endParaRPr b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275383" y="6329316"/>
            <a:ext cx="908311" cy="329184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6"/>
          <p:cNvCxnSpPr>
            <a:stCxn id="114" idx="1"/>
          </p:cNvCxnSpPr>
          <p:nvPr/>
        </p:nvCxnSpPr>
        <p:spPr>
          <a:xfrm flipH="1">
            <a:off x="1579111" y="1181779"/>
            <a:ext cx="12000" cy="4998900"/>
          </a:xfrm>
          <a:prstGeom prst="straightConnector1">
            <a:avLst/>
          </a:prstGeom>
          <a:noFill/>
          <a:ln cap="flat" cmpd="dbl" w="15875">
            <a:solidFill>
              <a:srgbClr val="5F497A">
                <a:alpha val="33725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1" name="Google Shape;131;p16"/>
          <p:cNvCxnSpPr/>
          <p:nvPr/>
        </p:nvCxnSpPr>
        <p:spPr>
          <a:xfrm flipH="1">
            <a:off x="2184118" y="1166357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2" name="Google Shape;132;p16"/>
          <p:cNvCxnSpPr/>
          <p:nvPr/>
        </p:nvCxnSpPr>
        <p:spPr>
          <a:xfrm flipH="1">
            <a:off x="2789097" y="1162348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" name="Google Shape;133;p16"/>
          <p:cNvCxnSpPr/>
          <p:nvPr/>
        </p:nvCxnSpPr>
        <p:spPr>
          <a:xfrm flipH="1">
            <a:off x="3403350" y="1169117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4" name="Google Shape;134;p16"/>
          <p:cNvCxnSpPr/>
          <p:nvPr/>
        </p:nvCxnSpPr>
        <p:spPr>
          <a:xfrm flipH="1">
            <a:off x="4037445" y="1172949"/>
            <a:ext cx="11943" cy="4999035"/>
          </a:xfrm>
          <a:prstGeom prst="straightConnector1">
            <a:avLst/>
          </a:prstGeom>
          <a:noFill/>
          <a:ln cap="flat" cmpd="dbl" w="15875">
            <a:solidFill>
              <a:srgbClr val="5F497A">
                <a:alpha val="33725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5" name="Google Shape;135;p16"/>
          <p:cNvCxnSpPr/>
          <p:nvPr/>
        </p:nvCxnSpPr>
        <p:spPr>
          <a:xfrm flipH="1">
            <a:off x="4675551" y="1153684"/>
            <a:ext cx="11943" cy="4999035"/>
          </a:xfrm>
          <a:prstGeom prst="straightConnector1">
            <a:avLst/>
          </a:prstGeom>
          <a:gradFill>
            <a:gsLst>
              <a:gs pos="0">
                <a:srgbClr val="F2DADA"/>
              </a:gs>
              <a:gs pos="17000">
                <a:srgbClr val="F2DADA"/>
              </a:gs>
              <a:gs pos="31000">
                <a:srgbClr val="00B050"/>
              </a:gs>
              <a:gs pos="47000">
                <a:srgbClr val="FFFF00"/>
              </a:gs>
              <a:gs pos="72000">
                <a:srgbClr val="FFBD15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</p:cxnSp>
      <p:cxnSp>
        <p:nvCxnSpPr>
          <p:cNvPr id="136" name="Google Shape;136;p16"/>
          <p:cNvCxnSpPr/>
          <p:nvPr/>
        </p:nvCxnSpPr>
        <p:spPr>
          <a:xfrm flipH="1">
            <a:off x="5293753" y="1151741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7" name="Google Shape;137;p16"/>
          <p:cNvCxnSpPr/>
          <p:nvPr/>
        </p:nvCxnSpPr>
        <p:spPr>
          <a:xfrm flipH="1">
            <a:off x="5908006" y="1158511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8" name="Google Shape;138;p16"/>
          <p:cNvCxnSpPr/>
          <p:nvPr/>
        </p:nvCxnSpPr>
        <p:spPr>
          <a:xfrm flipH="1">
            <a:off x="6534153" y="1162351"/>
            <a:ext cx="11943" cy="4999035"/>
          </a:xfrm>
          <a:prstGeom prst="straightConnector1">
            <a:avLst/>
          </a:prstGeom>
          <a:noFill/>
          <a:ln cap="flat" cmpd="dbl" w="15875">
            <a:solidFill>
              <a:srgbClr val="5F497A">
                <a:alpha val="33725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9" name="Google Shape;139;p16"/>
          <p:cNvCxnSpPr/>
          <p:nvPr/>
        </p:nvCxnSpPr>
        <p:spPr>
          <a:xfrm flipH="1">
            <a:off x="7180210" y="1158518"/>
            <a:ext cx="11943" cy="4999035"/>
          </a:xfrm>
          <a:prstGeom prst="straightConnector1">
            <a:avLst/>
          </a:prstGeom>
          <a:gradFill>
            <a:gsLst>
              <a:gs pos="0">
                <a:srgbClr val="F2DADA"/>
              </a:gs>
              <a:gs pos="10000">
                <a:srgbClr val="F2DADA"/>
              </a:gs>
              <a:gs pos="25000">
                <a:srgbClr val="00B050"/>
              </a:gs>
              <a:gs pos="40000">
                <a:srgbClr val="FFFF00"/>
              </a:gs>
              <a:gs pos="49000">
                <a:srgbClr val="FFBD15"/>
              </a:gs>
              <a:gs pos="58999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</p:cxnSp>
      <p:cxnSp>
        <p:nvCxnSpPr>
          <p:cNvPr id="140" name="Google Shape;140;p16"/>
          <p:cNvCxnSpPr/>
          <p:nvPr/>
        </p:nvCxnSpPr>
        <p:spPr>
          <a:xfrm flipH="1">
            <a:off x="7789140" y="1171177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" name="Google Shape;141;p16"/>
          <p:cNvCxnSpPr/>
          <p:nvPr/>
        </p:nvCxnSpPr>
        <p:spPr>
          <a:xfrm flipH="1">
            <a:off x="8403393" y="1156744"/>
            <a:ext cx="11943" cy="4999035"/>
          </a:xfrm>
          <a:prstGeom prst="straightConnector1">
            <a:avLst/>
          </a:prstGeom>
          <a:noFill/>
          <a:ln cap="flat" cmpd="sng" w="25400">
            <a:solidFill>
              <a:srgbClr val="DDD9C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16"/>
          <p:cNvCxnSpPr/>
          <p:nvPr/>
        </p:nvCxnSpPr>
        <p:spPr>
          <a:xfrm flipH="1">
            <a:off x="9022779" y="1144043"/>
            <a:ext cx="11943" cy="4999035"/>
          </a:xfrm>
          <a:prstGeom prst="straightConnector1">
            <a:avLst/>
          </a:prstGeom>
          <a:noFill/>
          <a:ln cap="flat" cmpd="dbl" w="15875">
            <a:solidFill>
              <a:srgbClr val="5F497A">
                <a:alpha val="33725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3" name="Google Shape;143;p16"/>
          <p:cNvSpPr/>
          <p:nvPr/>
        </p:nvSpPr>
        <p:spPr>
          <a:xfrm>
            <a:off x="1575526" y="5105437"/>
            <a:ext cx="7431037" cy="26700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DADA"/>
              </a:gs>
              <a:gs pos="11000">
                <a:srgbClr val="F2DADA"/>
              </a:gs>
              <a:gs pos="19000">
                <a:srgbClr val="00B050"/>
              </a:gs>
              <a:gs pos="42000">
                <a:srgbClr val="FFFF00"/>
              </a:gs>
              <a:gs pos="78000">
                <a:srgbClr val="FFBD15"/>
              </a:gs>
              <a:gs pos="88000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1602811" y="1451609"/>
            <a:ext cx="7425680" cy="29319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DADA"/>
              </a:gs>
              <a:gs pos="11000">
                <a:srgbClr val="F2DADA"/>
              </a:gs>
              <a:gs pos="14000">
                <a:srgbClr val="00B050"/>
              </a:gs>
              <a:gs pos="32000">
                <a:srgbClr val="FFFF00"/>
              </a:gs>
              <a:gs pos="49000">
                <a:srgbClr val="FFBD15"/>
              </a:gs>
              <a:gs pos="62000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TCG</a:t>
            </a:r>
            <a:endParaRPr sz="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329371" y="6317597"/>
            <a:ext cx="908311" cy="329184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184018" y="6330488"/>
            <a:ext cx="908311" cy="329184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Deploy/ maintenance</a:t>
            </a:r>
            <a:endParaRPr b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146641" y="6327921"/>
            <a:ext cx="908311" cy="329184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life/ migration</a:t>
            </a:r>
            <a:endParaRPr b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9935" y="6935276"/>
            <a:ext cx="1390680" cy="5337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6"/>
          <p:cNvCxnSpPr/>
          <p:nvPr/>
        </p:nvCxnSpPr>
        <p:spPr>
          <a:xfrm rot="10800000">
            <a:off x="4079864" y="1734122"/>
            <a:ext cx="0" cy="313217"/>
          </a:xfrm>
          <a:prstGeom prst="straightConnector1">
            <a:avLst/>
          </a:prstGeom>
          <a:noFill/>
          <a:ln cap="flat" cmpd="sng" w="25400">
            <a:solidFill>
              <a:srgbClr val="FEB30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16"/>
          <p:cNvSpPr txBox="1"/>
          <p:nvPr/>
        </p:nvSpPr>
        <p:spPr>
          <a:xfrm>
            <a:off x="3997190" y="1904290"/>
            <a:ext cx="925253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Official membership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7710" y="7105232"/>
            <a:ext cx="1539790" cy="37328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491193" y="5351703"/>
            <a:ext cx="75373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`N` scope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029741" y="2258779"/>
            <a:ext cx="1375576" cy="32918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DADA"/>
              </a:gs>
              <a:gs pos="9000">
                <a:srgbClr val="F2DADA"/>
              </a:gs>
              <a:gs pos="29000">
                <a:srgbClr val="B2A0C7"/>
              </a:gs>
              <a:gs pos="100000">
                <a:srgbClr val="B2A0C7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Publications</a:t>
            </a:r>
            <a:endParaRPr sz="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581830" y="1455793"/>
            <a:ext cx="766450" cy="32918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TCG invited expert membership </a:t>
            </a:r>
            <a:endParaRPr sz="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55" name="Google Shape;155;p16"/>
          <p:cNvCxnSpPr/>
          <p:nvPr/>
        </p:nvCxnSpPr>
        <p:spPr>
          <a:xfrm flipH="1" rot="10800000">
            <a:off x="5311348" y="1731469"/>
            <a:ext cx="11300" cy="315871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16"/>
          <p:cNvSpPr txBox="1"/>
          <p:nvPr/>
        </p:nvSpPr>
        <p:spPr>
          <a:xfrm>
            <a:off x="5245598" y="1889403"/>
            <a:ext cx="17363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based on eBay’s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 (including 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sidechannel concerns).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 eBay’s certification work to visibility.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16"/>
          <p:cNvCxnSpPr/>
          <p:nvPr/>
        </p:nvCxnSpPr>
        <p:spPr>
          <a:xfrm flipH="1" rot="10800000">
            <a:off x="7166529" y="1734817"/>
            <a:ext cx="11300" cy="315871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16"/>
          <p:cNvSpPr txBox="1"/>
          <p:nvPr/>
        </p:nvSpPr>
        <p:spPr>
          <a:xfrm>
            <a:off x="7100779" y="1954485"/>
            <a:ext cx="174118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 eBay’s certification to public release.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131833" y="3506021"/>
            <a:ext cx="1303020" cy="619760"/>
          </a:xfrm>
          <a:prstGeom prst="rect">
            <a:avLst/>
          </a:prstGeom>
          <a:solidFill>
            <a:srgbClr val="0F243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sz="800">
              <a:solidFill>
                <a:srgbClr val="B6DDE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30282" y="3096649"/>
            <a:ext cx="8790663" cy="79016"/>
          </a:xfrm>
          <a:prstGeom prst="roundRect">
            <a:avLst>
              <a:gd fmla="val 16667" name="adj"/>
            </a:avLst>
          </a:prstGeom>
          <a:solidFill>
            <a:srgbClr val="B6D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589908" y="3396241"/>
            <a:ext cx="2485821" cy="27743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DADA"/>
              </a:gs>
              <a:gs pos="17000">
                <a:srgbClr val="F2DADA"/>
              </a:gs>
              <a:gs pos="31000">
                <a:srgbClr val="00B050"/>
              </a:gs>
              <a:gs pos="47000">
                <a:srgbClr val="FFFF00"/>
              </a:gs>
              <a:gs pos="72000">
                <a:srgbClr val="FFBD15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Ideation</a:t>
            </a:r>
            <a:endParaRPr sz="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4074632" y="3397129"/>
            <a:ext cx="4946313" cy="27654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DADA"/>
              </a:gs>
              <a:gs pos="10000">
                <a:srgbClr val="F2DADA"/>
              </a:gs>
              <a:gs pos="25000">
                <a:srgbClr val="00B050"/>
              </a:gs>
              <a:gs pos="40000">
                <a:srgbClr val="FFFF00"/>
              </a:gs>
              <a:gs pos="49000">
                <a:srgbClr val="FFBD15"/>
              </a:gs>
              <a:gs pos="58999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Extend to other teams for symbiosis and synergy</a:t>
            </a:r>
            <a:endParaRPr sz="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074555" y="4149013"/>
            <a:ext cx="4895646" cy="2417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DADA"/>
              </a:gs>
              <a:gs pos="10000">
                <a:srgbClr val="F2DADA"/>
              </a:gs>
              <a:gs pos="25000">
                <a:srgbClr val="00B050"/>
              </a:gs>
              <a:gs pos="40000">
                <a:srgbClr val="FFFF00"/>
              </a:gs>
              <a:gs pos="65000">
                <a:srgbClr val="FFBD15"/>
              </a:gs>
              <a:gs pos="83000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Trial prototyping</a:t>
            </a:r>
            <a:endParaRPr sz="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505574" y="3642507"/>
            <a:ext cx="989373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 culture,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as `idea weaver`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3489609" y="3662641"/>
            <a:ext cx="647934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Patent filing.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5640091" y="3650455"/>
            <a:ext cx="115127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Patent filing (inter-teams).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436920" y="6381394"/>
            <a:ext cx="364181" cy="250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Cryptographic Security Architecture Roadmap</a:t>
            </a:r>
            <a:endParaRPr/>
          </a:p>
        </p:txBody>
      </p:sp>
      <p:sp>
        <p:nvSpPr>
          <p:cNvPr id="173" name="Google Shape;17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8861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2016:</a:t>
            </a:r>
            <a:endParaRPr/>
          </a:p>
          <a:p>
            <a:pPr indent="-325755" lvl="1" marL="74295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Q1: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Develop crypto deployment guidelines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 first set of ‘Understandable Crypto’ docs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 first tool (entropy analysis) for portable Crypto Test Suite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Determine best path for industry participation (TCG, etc)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Continue review of current crypto policies, procedures, and tools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Initial scope of work for N project</a:t>
            </a:r>
            <a:endParaRPr/>
          </a:p>
          <a:p>
            <a:pPr indent="-325755" lvl="1" marL="74295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Q2: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Continue writing Understandable Crypto docs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Further Test Suite tool development, begin to test with other teams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Complete audit of current implementations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First draft of ‘Targeted Defense’ strategy</a:t>
            </a:r>
            <a:endParaRPr/>
          </a:p>
          <a:p>
            <a:pPr indent="-26289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Determine crypto standardization and management needs, share arch with internal teams and users</a:t>
            </a:r>
            <a:endParaRPr/>
          </a:p>
          <a:p>
            <a:pPr indent="-14478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Cryptographic Security Architecture Roadmap Cont’d</a:t>
            </a:r>
            <a:endParaRPr/>
          </a:p>
        </p:txBody>
      </p:sp>
      <p:sp>
        <p:nvSpPr>
          <p:cNvPr id="182" name="Google Shape;182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581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2016:</a:t>
            </a:r>
            <a:endParaRPr/>
          </a:p>
          <a:p>
            <a:pPr indent="-299085" lvl="1" marL="74295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Q3: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Continue writing Understandable Crypto docs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Further Test Suite tool development, additional testing and rollout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Final draft of ‘Targeted Defense’ strategy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Re-evaluate feasibility of NIST/FIPS certification, determine work needed</a:t>
            </a:r>
            <a:endParaRPr/>
          </a:p>
          <a:p>
            <a:pPr indent="-299085" lvl="1" marL="74295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Q4: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Finalize Test Suite tools, complete publication to internal teams and users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Continue writing Understandable Crypto docs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First draft of Privacy Protection patent (‘Selective Redaction’)</a:t>
            </a:r>
            <a:endParaRPr/>
          </a:p>
          <a:p>
            <a:pPr indent="-24003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Continued work on N</a:t>
            </a:r>
            <a:endParaRPr/>
          </a:p>
          <a:p>
            <a:pPr indent="-14478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58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2017 and Beyond: We expect the Understandable Crypto doc series to run into at least 2017 to produce correctly. N will also take crypto arch presence for as long as it’s a going concern. We also expect to finalize and file the Privacy Protection patent, seek FIPS certification, and pursue additional industry representation.</a:t>
            </a:r>
            <a:endParaRPr/>
          </a:p>
          <a:p>
            <a:pPr indent="-144780" lvl="2" marL="1143000" rtl="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